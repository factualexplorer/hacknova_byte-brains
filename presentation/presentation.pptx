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85799" y="274319"/>
            <a:ext cx="7772401" cy="879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</a:t>
            </a:r>
            <a:r>
              <a:t>Slide 1 — Data Acquisition &amp; Quality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Source, Period, Quality Issues &amp; Resolutions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685800" y="1280160"/>
            <a:ext cx="10881360" cy="397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400">
                <a:solidFill>
                  <a:srgbClr val="22D3EE"/>
                </a:solidFill>
              </a:defRPr>
            </a:pPr>
            <a:r>
              <a:t>DATA SOURCE &amp; PERIOD</a:t>
            </a:r>
          </a:p>
          <a:p>
            <a:pPr>
              <a:spcBef>
                <a:spcPts val="200"/>
              </a:spcBef>
              <a:defRPr sz="1400">
                <a:solidFill>
                  <a:srgbClr val="CBD5E1"/>
                </a:solidFill>
              </a:defRPr>
            </a:pPr>
            <a:r>
              <a:t>• Provider: Yahoo Finance (yfinance Python library)</a:t>
            </a:r>
          </a:p>
          <a:p>
            <a:pPr>
              <a:spcBef>
                <a:spcPts val="200"/>
              </a:spcBef>
              <a:defRPr sz="1400">
                <a:solidFill>
                  <a:srgbClr val="CBD5E1"/>
                </a:solidFill>
              </a:defRPr>
            </a:pPr>
            <a:r>
              <a:t>• Period: 01 Jan 2023 – 31 Dec 2024 (2 full calendar years)</a:t>
            </a:r>
          </a:p>
          <a:p>
            <a:pPr>
              <a:spcBef>
                <a:spcPts val="200"/>
              </a:spcBef>
              <a:defRPr sz="1400">
                <a:solidFill>
                  <a:srgbClr val="CBD5E1"/>
                </a:solidFill>
              </a:defRPr>
            </a:pPr>
            <a:r>
              <a:t>• Frequency: Daily OHLCV (Adjusted Close for all return calculations)</a:t>
            </a:r>
          </a:p>
          <a:p>
            <a:pPr>
              <a:spcBef>
                <a:spcPts val="200"/>
              </a:spcBef>
              <a:defRPr sz="1400">
                <a:solidFill>
                  <a:srgbClr val="CBD5E1"/>
                </a:solidFill>
              </a:defRPr>
            </a:pPr>
            <a:r>
              <a:t>• Universe: 15 NSE-listed stocks across 3 sectors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    Banking (5): HDFCBANK, ICICIBANK, SBIN, KOTAKBANK, AXISBANK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    IT (5): TCS, INFY, WIPRO, HCLTECH, TECHM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    Pharma (5): SUNPHARMA, DRREDDY, CIPLA, DIVISLAB, APOLLOHOSP</a:t>
            </a:r>
          </a:p>
          <a:p>
            <a:pPr>
              <a:spcBef>
                <a:spcPts val="200"/>
              </a:spcBef>
              <a:defRPr sz="1400">
                <a:solidFill>
                  <a:srgbClr val="CBD5E1"/>
                </a:solidFill>
              </a:defRPr>
            </a:pPr>
            <a:r>
              <a:t>• Benchmark: Nifty 50 Index (^NSEI)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b="1" sz="1400">
                <a:solidFill>
                  <a:srgbClr val="FBBF24"/>
                </a:solidFill>
              </a:defRPr>
            </a:pPr>
            <a:r>
              <a:t>DATA QUALITY ACTIONS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• Missing values → Forward-filled, then back-filled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• Indian market holidays → Expected gaps, no additional treatment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• Zero/negative prices → Replaced with forward-fill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• Extreme returns (&gt;25% daily) → Flagged but retained (legitimate events)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• Validated: No stock has &gt;5 consecutive missing trading days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• All timestamps timezone-normalized (IST assumed)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 txBox="1"/>
          <p:nvPr/>
        </p:nvSpPr>
        <p:spPr>
          <a:xfrm>
            <a:off x="685799" y="274319"/>
            <a:ext cx="7772401" cy="879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 </a:t>
            </a:r>
            <a:r>
              <a:t>Slide 2 — Risk-Return Map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Annualized Volatility vs Annualized Return — Sector Clusters Explained</a:t>
            </a:r>
          </a:p>
        </p:txBody>
      </p:sp>
      <p:pic>
        <p:nvPicPr>
          <p:cNvPr id="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97280"/>
            <a:ext cx="7772401" cy="5303521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29600" y="1097280"/>
            <a:ext cx="3657600" cy="32004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Box 4"/>
          <p:cNvSpPr txBox="1"/>
          <p:nvPr/>
        </p:nvSpPr>
        <p:spPr>
          <a:xfrm>
            <a:off x="8275319" y="4480559"/>
            <a:ext cx="35661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Daily Returns Correlation Heatmap</a:t>
            </a:r>
          </a:p>
        </p:txBody>
      </p:sp>
      <p:sp>
        <p:nvSpPr>
          <p:cNvPr id="101" name="TextBox 5"/>
          <p:cNvSpPr txBox="1"/>
          <p:nvPr/>
        </p:nvSpPr>
        <p:spPr>
          <a:xfrm>
            <a:off x="8275319" y="4846320"/>
            <a:ext cx="3566161" cy="990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100">
                <a:solidFill>
                  <a:srgbClr val="22D3EE"/>
                </a:solidFill>
              </a:defRPr>
            </a:pPr>
            <a:r>
              <a:t>KEY OBSERVATIONS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Banking cluster: Moderate vol, correlated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IT cluster: Varies widely in risk-return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Pharma: Defensive, lower Beta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• Risk-free rate line at 6.5% p.a.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685799" y="274319"/>
            <a:ext cx="7772401" cy="879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🏆 </a:t>
            </a:r>
            <a:r>
              <a:t>Slide 3 — Top &amp; Bottom Stocks by Sharpe Ratio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Best 3 and Worst 3 performers — What separates winners from laggards</a:t>
            </a:r>
          </a:p>
        </p:txBody>
      </p:sp>
      <p:sp>
        <p:nvSpPr>
          <p:cNvPr id="104" name="TextBox 2"/>
          <p:cNvSpPr txBox="1"/>
          <p:nvPr/>
        </p:nvSpPr>
        <p:spPr>
          <a:xfrm>
            <a:off x="685800" y="1280160"/>
            <a:ext cx="356616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22C55E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🟢 </a:t>
            </a:r>
            <a:r>
              <a:t>TOP 3 (Highest Sharpe Ratio)</a:t>
            </a:r>
          </a:p>
        </p:txBody>
      </p:sp>
      <p:graphicFrame>
        <p:nvGraphicFramePr>
          <p:cNvPr id="105" name="Table 3"/>
          <p:cNvGraphicFramePr/>
          <p:nvPr/>
        </p:nvGraphicFramePr>
        <p:xfrm>
          <a:off x="457200" y="1737360"/>
          <a:ext cx="11247120" cy="1371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Ticker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Annualized Return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Annualized Volatility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Sharpe Ratio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Beta vs Nifty 50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Maximum Drawdown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SUNPHARMA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40.24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17.39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1.9399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0.4725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-12.24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HCLTECH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43.26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21.38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1.719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0.7871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-21.66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TECHM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36.85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25.14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1.2074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0.8729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-16.22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6" name="TextBox 4"/>
          <p:cNvSpPr txBox="1"/>
          <p:nvPr/>
        </p:nvSpPr>
        <p:spPr>
          <a:xfrm>
            <a:off x="685800" y="3474720"/>
            <a:ext cx="356616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🔴 </a:t>
            </a:r>
            <a:r>
              <a:t>BOTTOM 3 (Lowest Sharpe Ratio)</a:t>
            </a:r>
          </a:p>
        </p:txBody>
      </p:sp>
      <p:graphicFrame>
        <p:nvGraphicFramePr>
          <p:cNvPr id="107" name="Table 5"/>
          <p:cNvGraphicFramePr/>
          <p:nvPr/>
        </p:nvGraphicFramePr>
        <p:xfrm>
          <a:off x="457200" y="3931920"/>
          <a:ext cx="11247120" cy="1371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Ticker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Annualized Return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Annualized Volatility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Sharpe Ratio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Beta vs Nifty 50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Maximum Drawdown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AXISBANK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6.91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21.92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0.0185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1.0601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-18.78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HDFCBANK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5.98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19.82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-0.0265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1.0391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-19.91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KOTAKBANK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-2.31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20.41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-0.4318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0.8634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-23.15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6"/>
          <p:cNvSpPr txBox="1"/>
          <p:nvPr/>
        </p:nvSpPr>
        <p:spPr>
          <a:xfrm>
            <a:off x="685800" y="5577840"/>
            <a:ext cx="356616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22D3EE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</a:t>
            </a:r>
            <a:r>
              <a:t>Sector Averages</a:t>
            </a:r>
          </a:p>
        </p:txBody>
      </p:sp>
      <p:graphicFrame>
        <p:nvGraphicFramePr>
          <p:cNvPr id="109" name="Table 7"/>
          <p:cNvGraphicFramePr/>
          <p:nvPr/>
        </p:nvGraphicFramePr>
        <p:xfrm>
          <a:off x="457200" y="5852159"/>
          <a:ext cx="7315200" cy="82296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Avg Sharpe Ratio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Avg Beta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Portfolio A Exposure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Portfolio B Exposure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0.15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1.0647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33.3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5.7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0.9227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0.8763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33.3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27.7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1.1786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0.4501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33.3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66.6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 txBox="1"/>
          <p:nvPr/>
        </p:nvSpPr>
        <p:spPr>
          <a:xfrm>
            <a:off x="685799" y="274319"/>
            <a:ext cx="7772401" cy="879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📉 </a:t>
            </a:r>
            <a:r>
              <a:t>Slide 4 — SMA Technical Signals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50-Day &amp; 200-Day SMA — Golden Cross / Death Cross as of 31 Dec 2024</a:t>
            </a:r>
          </a:p>
        </p:txBody>
      </p:sp>
      <p:graphicFrame>
        <p:nvGraphicFramePr>
          <p:cNvPr id="112" name="Table 2"/>
          <p:cNvGraphicFramePr/>
          <p:nvPr/>
        </p:nvGraphicFramePr>
        <p:xfrm>
          <a:off x="274320" y="1280160"/>
          <a:ext cx="6858001" cy="41148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57175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Ticker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SMA-50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SMA-200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Last Crossover Date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APOLLOHOSP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7050.71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6559.55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nan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AXISBANK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1144.55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1160.8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Death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2024-12-12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CIPLA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1487.43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1492.87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Death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2024-12-24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DIVISLAB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5901.81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4838.6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2024-05-16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DRREDDY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1263.89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1267.88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Death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2024-12-13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HCLTECH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1792.28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1558.68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2024-07-22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HDFCBANK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876.15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804.55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2024-06-19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ICICIBANK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1282.17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1188.17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nan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INFY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1825.72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1648.63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2024-07-12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KOTAKBANK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352.1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353.36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Death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2024-12-26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SBIN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812.27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795.13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nan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SUNPHARMA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1789.64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1661.11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nan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TCS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3988.23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3898.45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nan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TECHM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1665.61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1439.69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nan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WIPRO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271.8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244.06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Golden Cross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nan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11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15200" y="1280160"/>
            <a:ext cx="4572000" cy="256032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4"/>
          <p:cNvSpPr txBox="1"/>
          <p:nvPr/>
        </p:nvSpPr>
        <p:spPr>
          <a:xfrm>
            <a:off x="7360919" y="3931920"/>
            <a:ext cx="4480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BD5E1"/>
                </a:solidFill>
              </a:defRPr>
            </a:lvl1pPr>
          </a:lstStyle>
          <a:p>
            <a:pPr/>
            <a:r>
              <a:t>HDFCBANK — SMA Overlay (Banking)</a:t>
            </a:r>
          </a:p>
        </p:txBody>
      </p:sp>
      <p:pic>
        <p:nvPicPr>
          <p:cNvPr id="115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200" y="4206240"/>
            <a:ext cx="4572000" cy="228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Box 6"/>
          <p:cNvSpPr txBox="1"/>
          <p:nvPr/>
        </p:nvSpPr>
        <p:spPr>
          <a:xfrm>
            <a:off x="7360919" y="6400800"/>
            <a:ext cx="4480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BD5E1"/>
                </a:solidFill>
              </a:defRPr>
            </a:lvl1pPr>
          </a:lstStyle>
          <a:p>
            <a:pPr/>
            <a:r>
              <a:t>TCS — SMA Overlay (IT)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 txBox="1"/>
          <p:nvPr/>
        </p:nvSpPr>
        <p:spPr>
          <a:xfrm>
            <a:off x="685799" y="274319"/>
            <a:ext cx="7772401" cy="1311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💼 </a:t>
            </a:r>
            <a:r>
              <a:t>Slide 5 — Portfolio Recommendation + Chaos Round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Portfolio A (Equal) vs Portfolio B (Optimized) + Nifty -10% Stress Test</a:t>
            </a:r>
          </a:p>
        </p:txBody>
      </p:sp>
      <p:sp>
        <p:nvSpPr>
          <p:cNvPr id="119" name="TextBox 2"/>
          <p:cNvSpPr txBox="1"/>
          <p:nvPr/>
        </p:nvSpPr>
        <p:spPr>
          <a:xfrm>
            <a:off x="502919" y="1188719"/>
            <a:ext cx="3566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2D3EE"/>
                </a:solidFill>
              </a:defRPr>
            </a:lvl1pPr>
          </a:lstStyle>
          <a:p>
            <a:pPr/>
            <a:r>
              <a:t>Portfolio Comparison</a:t>
            </a:r>
          </a:p>
        </p:txBody>
      </p:sp>
      <p:graphicFrame>
        <p:nvGraphicFramePr>
          <p:cNvPr id="120" name="Table 3"/>
          <p:cNvGraphicFramePr/>
          <p:nvPr/>
        </p:nvGraphicFramePr>
        <p:xfrm>
          <a:off x="457200" y="1554480"/>
          <a:ext cx="5029200" cy="21031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676400"/>
                <a:gridCol w="1676400"/>
                <a:gridCol w="167640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Portfolio A (Equal Weight)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Portfolio B (Recommended)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Annualized Return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24.28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34.29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Annualized Volatility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11.43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12.1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Sharpe Ratio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1.5564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2.2956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 Exposure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33.3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5.7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IT Exposure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33.3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27.7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 Exposure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33.3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66.6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</a:tbl>
          </a:graphicData>
        </a:graphic>
      </p:graphicFrame>
      <p:pic>
        <p:nvPicPr>
          <p:cNvPr id="12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60720" y="1097280"/>
            <a:ext cx="6217921" cy="256032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Box 5"/>
          <p:cNvSpPr txBox="1"/>
          <p:nvPr/>
        </p:nvSpPr>
        <p:spPr>
          <a:xfrm>
            <a:off x="502919" y="3840479"/>
            <a:ext cx="44805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BBF2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⚡ </a:t>
            </a:r>
            <a:r>
              <a:t>Chaos Round: Nifty -10% Stress Test</a:t>
            </a:r>
          </a:p>
        </p:txBody>
      </p:sp>
      <p:pic>
        <p:nvPicPr>
          <p:cNvPr id="12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320" y="4206240"/>
            <a:ext cx="5669280" cy="246888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24" name="Table 7"/>
          <p:cNvGraphicFramePr/>
          <p:nvPr/>
        </p:nvGraphicFramePr>
        <p:xfrm>
          <a:off x="5943600" y="4206240"/>
          <a:ext cx="5760721" cy="16459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Ticker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Beta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Expected Loss (%)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PORTFOLIO 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Portfolio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-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-7.97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PORTFOLIO B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Portfolio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-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-5.99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MOST EXPOSED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Banking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1.3916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-13.92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SAFEST REFUGE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Pharma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0.3322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CBD5E1"/>
                          </a:solidFill>
                        </a:rPr>
                        <a:t>-3.32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8"/>
          <p:cNvSpPr txBox="1"/>
          <p:nvPr/>
        </p:nvSpPr>
        <p:spPr>
          <a:xfrm>
            <a:off x="5989320" y="6035040"/>
            <a:ext cx="5669280" cy="22570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FBBF24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 txBox="1"/>
          <p:nvPr/>
        </p:nvSpPr>
        <p:spPr>
          <a:xfrm>
            <a:off x="685799" y="274319"/>
            <a:ext cx="7772401" cy="879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🤖 </a:t>
            </a:r>
            <a:r>
              <a:t>Slide 6 — ML Model Comparison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Random Forest vs Gradient Boosting — Predicting Stock Outperformance vs Nifty 50 (20-day forward)</a:t>
            </a:r>
          </a:p>
        </p:txBody>
      </p:sp>
      <p:sp>
        <p:nvSpPr>
          <p:cNvPr id="128" name="TextBox 2"/>
          <p:cNvSpPr txBox="1"/>
          <p:nvPr/>
        </p:nvSpPr>
        <p:spPr>
          <a:xfrm>
            <a:off x="502919" y="1188719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2D3EE"/>
                </a:solidFill>
              </a:defRPr>
            </a:lvl1pPr>
          </a:lstStyle>
          <a:p>
            <a:pPr/>
            <a:r>
              <a:t>Model Performance (Test: 2024)</a:t>
            </a:r>
          </a:p>
        </p:txBody>
      </p:sp>
      <p:graphicFrame>
        <p:nvGraphicFramePr>
          <p:cNvPr id="129" name="Table 3"/>
          <p:cNvGraphicFramePr/>
          <p:nvPr/>
        </p:nvGraphicFramePr>
        <p:xfrm>
          <a:off x="457200" y="1508760"/>
          <a:ext cx="6400800" cy="9144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F1 Score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3341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Random Forest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0.5233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0.5418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0.6969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0.6096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0.4807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Gradient Boosting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0.5069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0.5332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0.6179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0.5724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CBD5E1"/>
                          </a:solidFill>
                        </a:rPr>
                        <a:t>0.511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72233"/>
                    </a:solidFill>
                  </a:tcPr>
                </a:tc>
              </a:tr>
            </a:tbl>
          </a:graphicData>
        </a:graphic>
      </p:graphicFrame>
      <p:pic>
        <p:nvPicPr>
          <p:cNvPr id="13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2651760"/>
            <a:ext cx="5943601" cy="228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20" y="1188719"/>
            <a:ext cx="5760721" cy="25603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20" y="3840479"/>
            <a:ext cx="5760721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TextBox 7"/>
          <p:cNvSpPr txBox="1"/>
          <p:nvPr/>
        </p:nvSpPr>
        <p:spPr>
          <a:xfrm>
            <a:off x="502919" y="5120640"/>
            <a:ext cx="5852161" cy="105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ML Design:</a:t>
            </a:r>
            <a:br/>
            <a:r>
              <a:t>• Target: Does stock outperform Nifty 50 over next 20 days?</a:t>
            </a:r>
            <a:br/>
            <a:r>
              <a:t>• Features: 18 technical indicators (returns, volatility, SMA ratios,</a:t>
            </a:r>
            <a:br/>
            <a:r>
              <a:t>  RSI, MACD, Beta, volume)</a:t>
            </a:r>
            <a:br/>
            <a:r>
              <a:t>• Temporal split: Train on 2023, Test on 2024 (no data leakage)</a:t>
            </a:r>
            <a:br/>
            <a:r>
              <a:t>• Class balancing: balanced weights (RF) / scale_pos_weight (XGB)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 txBox="1"/>
          <p:nvPr/>
        </p:nvSpPr>
        <p:spPr>
          <a:xfrm>
            <a:off x="685799" y="274319"/>
            <a:ext cx="7772401" cy="879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⚙️ </a:t>
            </a:r>
            <a:r>
              <a:t>Slide 7 — n8n Automation Demo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Price Alert Workflow — Live Execution</a:t>
            </a:r>
          </a:p>
        </p:txBody>
      </p:sp>
      <p:pic>
        <p:nvPicPr>
          <p:cNvPr id="13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188719"/>
            <a:ext cx="7315201" cy="411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Box 3"/>
          <p:cNvSpPr txBox="1"/>
          <p:nvPr/>
        </p:nvSpPr>
        <p:spPr>
          <a:xfrm>
            <a:off x="7818119" y="1188719"/>
            <a:ext cx="4023361" cy="315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b="1" sz="1400">
                <a:solidFill>
                  <a:srgbClr val="22D3EE"/>
                </a:solidFill>
              </a:defRPr>
            </a:pPr>
            <a:r>
              <a:t>WORKFLOW: PRICE ALERT MONITOR</a:t>
            </a:r>
          </a:p>
          <a:p>
            <a:pPr>
              <a:spcBef>
                <a:spcPts val="200"/>
              </a:spcBef>
              <a:defRPr sz="60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b="1" sz="1200">
                <a:solidFill>
                  <a:srgbClr val="FBBF24"/>
                </a:solidFill>
              </a:defRPr>
            </a:pPr>
            <a:r>
              <a:t>Purpose: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Automated monitoring replaces manual daily checks,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ensuring the fund manager is immediately notified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of significant price movements requiring action.</a:t>
            </a:r>
          </a:p>
          <a:p>
            <a:pPr>
              <a:spcBef>
                <a:spcPts val="200"/>
              </a:spcBef>
              <a:defRPr sz="60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b="1" sz="1200">
                <a:solidFill>
                  <a:srgbClr val="FBBF24"/>
                </a:solidFill>
              </a:defRPr>
            </a:pPr>
            <a:r>
              <a:t>Configuration: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• Stocks: HDFCBANK, TCS, SUNPHARMA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• Schedule: Mon–Fri at 4:00 PM IST (post NSE close)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• Threshold: Alert if any stock moves &gt;2%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• Action: Email alert with ticker, price, change %</a:t>
            </a:r>
          </a:p>
          <a:p>
            <a:pPr>
              <a:spcBef>
                <a:spcPts val="200"/>
              </a:spcBef>
              <a:defRPr sz="60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b="1" sz="1300">
                <a:solidFill>
                  <a:srgbClr val="22C55E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📺 </a:t>
            </a:r>
            <a:r>
              <a:t>LIVE DEMO: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Import JSON → Execute workflow → Show alert output</a:t>
            </a:r>
          </a:p>
        </p:txBody>
      </p:sp>
      <p:sp>
        <p:nvSpPr>
          <p:cNvPr id="138" name="TextBox 4"/>
          <p:cNvSpPr txBox="1"/>
          <p:nvPr/>
        </p:nvSpPr>
        <p:spPr>
          <a:xfrm>
            <a:off x="502919" y="5669279"/>
            <a:ext cx="10881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Workflow JSON → n8n/price_alert_workflow.json  |  Runs Mon-Fri 4 PM IST  |  Uses Yahoo Finance API  |  Sends alert via email to fund manager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