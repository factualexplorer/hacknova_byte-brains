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Slide 1 — Data Acquisition &amp; Quality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Source, Period, Quality Issues &amp; Resolutions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22D3EE"/>
                </a:solidFill>
              </a:defRPr>
            </a:pPr>
            <a:r>
              <a:t>DATA SOURCE &amp; PERIOD</a:t>
            </a:r>
          </a:p>
          <a:p>
            <a:pPr>
              <a:spcBef>
                <a:spcPts val="200"/>
              </a:spcBef>
              <a:defRPr sz="1400" b="0">
                <a:solidFill>
                  <a:srgbClr val="CBD5E1"/>
                </a:solidFill>
              </a:defRPr>
            </a:pPr>
            <a:r>
              <a:t>• Provider: Yahoo Finance (yfinance Python library)</a:t>
            </a:r>
          </a:p>
          <a:p>
            <a:pPr>
              <a:spcBef>
                <a:spcPts val="200"/>
              </a:spcBef>
              <a:defRPr sz="1400" b="0">
                <a:solidFill>
                  <a:srgbClr val="CBD5E1"/>
                </a:solidFill>
              </a:defRPr>
            </a:pPr>
            <a:r>
              <a:t>• Period: 01 Jan 2023 – 31 Dec 2024 (2 full calendar years)</a:t>
            </a:r>
          </a:p>
          <a:p>
            <a:pPr>
              <a:spcBef>
                <a:spcPts val="200"/>
              </a:spcBef>
              <a:defRPr sz="1400" b="0">
                <a:solidFill>
                  <a:srgbClr val="CBD5E1"/>
                </a:solidFill>
              </a:defRPr>
            </a:pPr>
            <a:r>
              <a:t>• Frequency: Daily OHLCV (Adjusted Close for all return calculations)</a:t>
            </a:r>
          </a:p>
          <a:p>
            <a:pPr>
              <a:spcBef>
                <a:spcPts val="200"/>
              </a:spcBef>
              <a:defRPr sz="1400" b="0">
                <a:solidFill>
                  <a:srgbClr val="CBD5E1"/>
                </a:solidFill>
              </a:defRPr>
            </a:pPr>
            <a:r>
              <a:t>• Universe: 15 NSE-listed stocks across 3 sectors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    Banking (5): HDFCBANK, ICICIBANK, SBIN, KOTAKBANK, AXISBANK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    IT (5): TCS, INFY, WIPRO, HCLTECH, TECHM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    Pharma (5): SUNPHARMA, DRREDDY, CIPLA, DIVISLAB, APOLLOHOSP</a:t>
            </a:r>
          </a:p>
          <a:p>
            <a:pPr>
              <a:spcBef>
                <a:spcPts val="200"/>
              </a:spcBef>
              <a:defRPr sz="1400" b="0">
                <a:solidFill>
                  <a:srgbClr val="CBD5E1"/>
                </a:solidFill>
              </a:defRPr>
            </a:pPr>
            <a:r>
              <a:t>• Benchmark: Nifty 50 Index (^NSEI)</a:t>
            </a:r>
          </a:p>
          <a:p>
            <a:pPr>
              <a:spcBef>
                <a:spcPts val="200"/>
              </a:spcBef>
              <a:defRPr sz="800" b="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sz="1400" b="1">
                <a:solidFill>
                  <a:srgbClr val="FBBF24"/>
                </a:solidFill>
              </a:defRPr>
            </a:pPr>
            <a:r>
              <a:t>DATA QUALITY ACTIONS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Missing values → Forward-filled, then back-filled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Indian market holidays → Expected gaps, no additional treatment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Zero/negative prices → Replaced with forward-fill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Extreme returns (&gt;25% daily) → Flagged but retained (legitimate events)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Validated: No stock has &gt;5 consecutive missing trading days</a:t>
            </a:r>
          </a:p>
          <a:p>
            <a:pPr>
              <a:spcBef>
                <a:spcPts val="200"/>
              </a:spcBef>
              <a:defRPr sz="1300" b="0">
                <a:solidFill>
                  <a:srgbClr val="CBD5E1"/>
                </a:solidFill>
              </a:defRPr>
            </a:pPr>
            <a:r>
              <a:t>• All timestamps timezone-normalized (IST assumed)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📈 Slide 2 — Risk-Return Map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Annualized Volatility vs Annualized Return — Sector Clusters Explained</a:t>
            </a:r>
          </a:p>
        </p:txBody>
      </p:sp>
      <p:pic>
        <p:nvPicPr>
          <p:cNvPr id="3" name="Picture 2" descr="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03520"/>
          </a:xfrm>
          <a:prstGeom prst="rect">
            <a:avLst/>
          </a:prstGeom>
        </p:spPr>
      </p:pic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</a:defRPr>
            </a:pPr>
            <a:r>
              <a:t>Daily Returns Correlation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46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22D3EE"/>
                </a:solidFill>
              </a:defRPr>
            </a:pPr>
            <a:r>
              <a:t>KEY OBSERVATIONS</a:t>
            </a:r>
          </a:p>
          <a:p>
            <a:pPr>
              <a:spcBef>
                <a:spcPts val="200"/>
              </a:spcBef>
              <a:defRPr sz="1000" b="0">
                <a:solidFill>
                  <a:srgbClr val="CBD5E1"/>
                </a:solidFill>
              </a:defRPr>
            </a:pPr>
            <a:r>
              <a:t>• Banking cluster: Moderate vol, correlated</a:t>
            </a:r>
          </a:p>
          <a:p>
            <a:pPr>
              <a:spcBef>
                <a:spcPts val="200"/>
              </a:spcBef>
              <a:defRPr sz="1000" b="0">
                <a:solidFill>
                  <a:srgbClr val="CBD5E1"/>
                </a:solidFill>
              </a:defRPr>
            </a:pPr>
            <a:r>
              <a:t>• IT cluster: Varies widely in risk-return</a:t>
            </a:r>
          </a:p>
          <a:p>
            <a:pPr>
              <a:spcBef>
                <a:spcPts val="200"/>
              </a:spcBef>
              <a:defRPr sz="1000" b="0">
                <a:solidFill>
                  <a:srgbClr val="CBD5E1"/>
                </a:solidFill>
              </a:defRPr>
            </a:pPr>
            <a:r>
              <a:t>• Pharma: Defensive, lower Beta</a:t>
            </a:r>
          </a:p>
          <a:p>
            <a:pPr>
              <a:spcBef>
                <a:spcPts val="200"/>
              </a:spcBef>
              <a:defRPr sz="1000" b="0">
                <a:solidFill>
                  <a:srgbClr val="CBD5E1"/>
                </a:solidFill>
              </a:defRPr>
            </a:pPr>
            <a:r>
              <a:t>• Risk-free rate line at 6.5%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🏆 Slide 3 — Top &amp; Bottom Stocks by Sharpe Ratio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Best 3 and Worst 3 performers — What separates winners from laggards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📉 Slide 4 — SMA Technical Signals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50-Day &amp; 200-Day SMA — Golden Cross / Death Cross as of 31 Dec 2024</a:t>
            </a:r>
          </a:p>
        </p:txBody>
      </p:sp>
      <p:pic>
        <p:nvPicPr>
          <p:cNvPr id="3" name="Picture 2" descr="sma_b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5720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BD5E1"/>
                </a:solidFill>
              </a:defRPr>
            </a:pPr>
            <a:r>
              <a:t>HDFCBANK — SMA Overlay (Banking)</a:t>
            </a:r>
          </a:p>
        </p:txBody>
      </p:sp>
      <p:pic>
        <p:nvPicPr>
          <p:cNvPr id="5" name="Picture 4" descr="sma_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06240"/>
            <a:ext cx="4572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BD5E1"/>
                </a:solidFill>
              </a:defRPr>
            </a:pPr>
            <a:r>
              <a:t>TCS — SMA Overlay (IT)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💼 Slide 5 — Portfolio Recommendation + Chaos Round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Portfolio A (Equal) vs Portfolio B (Optimized) + Nifty -10% Stress Test</a:t>
            </a:r>
          </a:p>
        </p:txBody>
      </p:sp>
      <p:pic>
        <p:nvPicPr>
          <p:cNvPr id="3" name="Picture 2" descr="portfol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⚡ Chaos Round: Nifty -10% Stress Test</a:t>
            </a:r>
          </a:p>
        </p:txBody>
      </p:sp>
      <p:pic>
        <p:nvPicPr>
          <p:cNvPr id="5" name="Picture 4" descr="chaos_stres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206240"/>
            <a:ext cx="56692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</a:defRPr>
            </a:pPr>
            <a:r>
              <a:t>Portfolio B is strategically allocated to minimize drawdown using a defensive pivot.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🤖 Slide 6 — ML Model Comparison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Random Forest vs Gradient Boosting — Predicting Stock Outperformance vs Nifty 50 (20-day forward)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</a:defRPr>
            </a:pPr>
            <a:r>
              <a:t>Model Performance (Test: 2024)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0.7847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0.7886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0.8091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0.7987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0.8692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0.8855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0.8932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0.8894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0.8913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0.9465</a:t>
                      </a:r>
                    </a:p>
                  </a:txBody>
                  <a:tcPr>
                    <a:solidFill>
                      <a:srgbClr val="172233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943600" cy="2286000"/>
          </a:xfrm>
          <a:prstGeom prst="rect">
            <a:avLst/>
          </a:prstGeom>
        </p:spPr>
      </p:pic>
      <p:pic>
        <p:nvPicPr>
          <p:cNvPr id="6" name="Picture 5" descr="m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2560320"/>
          </a:xfrm>
          <a:prstGeom prst="rect">
            <a:avLst/>
          </a:prstGeom>
        </p:spPr>
      </p:pic>
      <p:pic>
        <p:nvPicPr>
          <p:cNvPr id="7" name="Picture 6" descr="ml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40480"/>
            <a:ext cx="5760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1206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ML Design:</a:t>
            </a:r>
            <a:br/>
            <a:r>
              <a:t>• Target: Does stock outperform Nifty 50 over next 20 days?</a:t>
            </a:r>
            <a:br/>
            <a:r>
              <a:t>• Features: 18 technical indicators (returns, volatility, SMA ratios,</a:t>
            </a:r>
            <a:br/>
            <a:r>
              <a:t>  RSI, MACD, Beta, volume)</a:t>
            </a:r>
            <a:br/>
            <a:r>
              <a:t>• Temporal split: Train on 2023, Test on 2024 (no data leakage)</a:t>
            </a:r>
            <a:br/>
            <a:r>
              <a:t>• Class balancing: balanced weights (RF) / scale_pos_weight (XGB)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</a:defRPr>
            </a:pPr>
            <a:r>
              <a:t>Top 3 Features: Rel_return_20d, Vol_60d, MACD_hist. Financial interpretation provided in separate document.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⚙️ Slide 7 — n8n Automation Demo</a:t>
            </a:r>
          </a:p>
          <a:p>
            <a:pPr algn="l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Price Alert Workflow — Live Execution</a:t>
            </a:r>
          </a:p>
        </p:txBody>
      </p:sp>
      <p:pic>
        <p:nvPicPr>
          <p:cNvPr id="3" name="Picture 2" descr="n8n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22D3EE"/>
                </a:solidFill>
              </a:defRPr>
            </a:pPr>
            <a:r>
              <a:t>WORKFLOW: PRICE ALERT MONITOR</a:t>
            </a:r>
          </a:p>
          <a:p>
            <a:pPr>
              <a:spcBef>
                <a:spcPts val="200"/>
              </a:spcBef>
              <a:defRPr sz="600" b="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BBF24"/>
                </a:solidFill>
              </a:defRPr>
            </a:pPr>
            <a:r>
              <a:t>Purpose: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Automated monitoring replaces manual daily checks,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ensuring the fund manager is immediately notified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of significant price movements requiring action.</a:t>
            </a:r>
          </a:p>
          <a:p>
            <a:pPr>
              <a:spcBef>
                <a:spcPts val="200"/>
              </a:spcBef>
              <a:defRPr sz="600" b="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sz="1200" b="1">
                <a:solidFill>
                  <a:srgbClr val="FBBF24"/>
                </a:solidFill>
              </a:defRPr>
            </a:pPr>
            <a:r>
              <a:t>Configuration: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• Stocks: HDFCBANK, TCS, SUNPHARMA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• Schedule: Mon–Fri at 4:00 PM IST (post NSE close)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• Threshold: Alert if any stock moves &gt;2%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• Action: Email alert with ticker, price, change %</a:t>
            </a:r>
          </a:p>
          <a:p>
            <a:pPr>
              <a:spcBef>
                <a:spcPts val="200"/>
              </a:spcBef>
              <a:defRPr sz="600" b="0">
                <a:solidFill>
                  <a:srgbClr val="CBD5E1"/>
                </a:solidFill>
              </a:defRPr>
            </a:pPr>
          </a:p>
          <a:p>
            <a:pPr>
              <a:spcBef>
                <a:spcPts val="200"/>
              </a:spcBef>
              <a:defRPr sz="1300" b="1">
                <a:solidFill>
                  <a:srgbClr val="22C55E"/>
                </a:solidFill>
              </a:defRPr>
            </a:pPr>
            <a:r>
              <a:t>📺 LIVE DEMO:</a:t>
            </a:r>
          </a:p>
          <a:p>
            <a:pPr>
              <a:spcBef>
                <a:spcPts val="200"/>
              </a:spcBef>
              <a:defRPr sz="1200" b="0">
                <a:solidFill>
                  <a:srgbClr val="CBD5E1"/>
                </a:solidFill>
              </a:defRPr>
            </a:pPr>
            <a:r>
              <a:t>Import JSON → Execute workflow → Show alert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Workflow JSON → n8n/price_alert_workflow.json  |  Runs Mon-Fri 4 PM IST  |  Uses Yahoo Finance API  |  Sends alert via email to fund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